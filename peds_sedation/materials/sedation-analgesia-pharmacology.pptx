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YERP" initials="M" lastIdx="1" clrIdx="0">
    <p:extLst>
      <p:ext uri="{19B8F6BF-5375-455C-9EA6-DF929625EA0E}">
        <p15:presenceInfo xmlns:p15="http://schemas.microsoft.com/office/powerpoint/2012/main" userId="S-1-5-21-2093055459-472732498-5979419-105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70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9-12T14:04:28.696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8F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3F3F3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8F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3F3F3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8F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8000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7999"/>
                </a:lnTo>
                <a:lnTo>
                  <a:pt x="3006852" y="6857999"/>
                </a:lnTo>
                <a:lnTo>
                  <a:pt x="3006852" y="0"/>
                </a:lnTo>
                <a:close/>
              </a:path>
            </a:pathLst>
          </a:custGeom>
          <a:solidFill>
            <a:srgbClr val="8F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3" y="0"/>
                </a:moveTo>
                <a:lnTo>
                  <a:pt x="0" y="0"/>
                </a:lnTo>
                <a:lnTo>
                  <a:pt x="1208190" y="6857999"/>
                </a:lnTo>
                <a:lnTo>
                  <a:pt x="2587663" y="6857999"/>
                </a:lnTo>
                <a:lnTo>
                  <a:pt x="2587663" y="0"/>
                </a:lnTo>
                <a:close/>
              </a:path>
            </a:pathLst>
          </a:custGeom>
          <a:solidFill>
            <a:srgbClr val="8F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7999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6" y="0"/>
                </a:moveTo>
                <a:lnTo>
                  <a:pt x="0" y="3810000"/>
                </a:lnTo>
                <a:lnTo>
                  <a:pt x="3259836" y="3810000"/>
                </a:lnTo>
                <a:lnTo>
                  <a:pt x="3259836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7999"/>
                </a:lnTo>
                <a:lnTo>
                  <a:pt x="2851161" y="6857999"/>
                </a:lnTo>
                <a:lnTo>
                  <a:pt x="2851161" y="0"/>
                </a:lnTo>
                <a:close/>
              </a:path>
            </a:pathLst>
          </a:custGeom>
          <a:solidFill>
            <a:srgbClr val="3F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7999"/>
                </a:lnTo>
                <a:lnTo>
                  <a:pt x="1290828" y="6857999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4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2" y="0"/>
                </a:moveTo>
                <a:lnTo>
                  <a:pt x="0" y="0"/>
                </a:lnTo>
                <a:lnTo>
                  <a:pt x="1107740" y="6857999"/>
                </a:lnTo>
                <a:lnTo>
                  <a:pt x="1248202" y="6857999"/>
                </a:lnTo>
                <a:lnTo>
                  <a:pt x="1248202" y="0"/>
                </a:lnTo>
                <a:close/>
              </a:path>
            </a:pathLst>
          </a:custGeom>
          <a:solidFill>
            <a:srgbClr val="8F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4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8" y="0"/>
                </a:moveTo>
                <a:lnTo>
                  <a:pt x="0" y="3267456"/>
                </a:lnTo>
                <a:lnTo>
                  <a:pt x="1816608" y="3267456"/>
                </a:lnTo>
                <a:lnTo>
                  <a:pt x="1816608" y="0"/>
                </a:lnTo>
                <a:close/>
              </a:path>
            </a:pathLst>
          </a:custGeom>
          <a:solidFill>
            <a:srgbClr val="8F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4" y="0"/>
                </a:moveTo>
                <a:lnTo>
                  <a:pt x="0" y="0"/>
                </a:lnTo>
                <a:lnTo>
                  <a:pt x="0" y="5666234"/>
                </a:lnTo>
                <a:lnTo>
                  <a:pt x="842774" y="0"/>
                </a:lnTo>
                <a:close/>
              </a:path>
            </a:pathLst>
          </a:custGeom>
          <a:solidFill>
            <a:srgbClr val="8F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8F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8000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7999"/>
                </a:lnTo>
                <a:lnTo>
                  <a:pt x="3006852" y="6857999"/>
                </a:lnTo>
                <a:lnTo>
                  <a:pt x="3006852" y="0"/>
                </a:lnTo>
                <a:close/>
              </a:path>
            </a:pathLst>
          </a:custGeom>
          <a:solidFill>
            <a:srgbClr val="8F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3" y="0"/>
                </a:moveTo>
                <a:lnTo>
                  <a:pt x="0" y="0"/>
                </a:lnTo>
                <a:lnTo>
                  <a:pt x="1208190" y="6857999"/>
                </a:lnTo>
                <a:lnTo>
                  <a:pt x="2587663" y="6857999"/>
                </a:lnTo>
                <a:lnTo>
                  <a:pt x="2587663" y="0"/>
                </a:lnTo>
                <a:close/>
              </a:path>
            </a:pathLst>
          </a:custGeom>
          <a:solidFill>
            <a:srgbClr val="8F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7999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6" y="0"/>
                </a:moveTo>
                <a:lnTo>
                  <a:pt x="0" y="3810000"/>
                </a:lnTo>
                <a:lnTo>
                  <a:pt x="3259836" y="3810000"/>
                </a:lnTo>
                <a:lnTo>
                  <a:pt x="3259836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7999"/>
                </a:lnTo>
                <a:lnTo>
                  <a:pt x="2851161" y="6857999"/>
                </a:lnTo>
                <a:lnTo>
                  <a:pt x="2851161" y="0"/>
                </a:lnTo>
                <a:close/>
              </a:path>
            </a:pathLst>
          </a:custGeom>
          <a:solidFill>
            <a:srgbClr val="3F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7999"/>
                </a:lnTo>
                <a:lnTo>
                  <a:pt x="1290828" y="6857999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4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2" y="0"/>
                </a:moveTo>
                <a:lnTo>
                  <a:pt x="0" y="0"/>
                </a:lnTo>
                <a:lnTo>
                  <a:pt x="1107740" y="6857999"/>
                </a:lnTo>
                <a:lnTo>
                  <a:pt x="1248202" y="6857999"/>
                </a:lnTo>
                <a:lnTo>
                  <a:pt x="1248202" y="0"/>
                </a:lnTo>
                <a:close/>
              </a:path>
            </a:pathLst>
          </a:custGeom>
          <a:solidFill>
            <a:srgbClr val="8F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4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8" y="0"/>
                </a:moveTo>
                <a:lnTo>
                  <a:pt x="0" y="3267456"/>
                </a:lnTo>
                <a:lnTo>
                  <a:pt x="1816608" y="3267456"/>
                </a:lnTo>
                <a:lnTo>
                  <a:pt x="1816608" y="0"/>
                </a:lnTo>
                <a:close/>
              </a:path>
            </a:pathLst>
          </a:custGeom>
          <a:solidFill>
            <a:srgbClr val="8F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8"/>
                </a:lnTo>
                <a:lnTo>
                  <a:pt x="448057" y="2845308"/>
                </a:lnTo>
                <a:lnTo>
                  <a:pt x="0" y="0"/>
                </a:lnTo>
                <a:close/>
              </a:path>
            </a:pathLst>
          </a:custGeom>
          <a:solidFill>
            <a:srgbClr val="8F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7833" y="344804"/>
            <a:ext cx="10676333" cy="8583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8F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309" y="2060795"/>
            <a:ext cx="8428990" cy="39090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3F3F3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1010" y="2326970"/>
            <a:ext cx="731964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8605" marR="5080" indent="-1525905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Sedation</a:t>
            </a:r>
            <a:r>
              <a:rPr sz="5400" spc="240" dirty="0">
                <a:latin typeface="Times New Roman"/>
                <a:cs typeface="Times New Roman"/>
              </a:rPr>
              <a:t> </a:t>
            </a:r>
            <a:r>
              <a:rPr sz="5400" dirty="0"/>
              <a:t>and</a:t>
            </a:r>
            <a:r>
              <a:rPr sz="5400" spc="-45" dirty="0">
                <a:latin typeface="Times New Roman"/>
                <a:cs typeface="Times New Roman"/>
              </a:rPr>
              <a:t> </a:t>
            </a:r>
            <a:r>
              <a:rPr sz="5400" spc="-10" dirty="0"/>
              <a:t>Analgesia-</a:t>
            </a:r>
            <a:r>
              <a:rPr sz="5400" spc="-10" dirty="0">
                <a:latin typeface="Times New Roman"/>
                <a:cs typeface="Times New Roman"/>
              </a:rPr>
              <a:t> </a:t>
            </a:r>
            <a:r>
              <a:rPr sz="5400" spc="-10" dirty="0"/>
              <a:t>Pharmacology</a:t>
            </a:r>
            <a:endParaRPr sz="5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Topics: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187651"/>
            <a:ext cx="1862455" cy="19011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Sedative</a:t>
            </a:r>
            <a:r>
              <a:rPr sz="1800" spc="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Trebuchet MS"/>
                <a:cs typeface="Trebuchet MS"/>
              </a:rPr>
              <a:t>drugs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8FC225"/>
              </a:buClr>
              <a:buFont typeface="Wingdings 3"/>
              <a:buChar char=""/>
            </a:pPr>
            <a:endParaRPr sz="21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71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Analgesics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8FC225"/>
              </a:buClr>
              <a:buFont typeface="Wingdings 3"/>
              <a:buChar char=""/>
            </a:pPr>
            <a:endParaRPr sz="21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69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Combinations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325" rIns="0" bIns="0" rtlCol="0">
            <a:spAutoFit/>
          </a:bodyPr>
          <a:lstStyle/>
          <a:p>
            <a:pPr marL="125349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Sedatives</a:t>
            </a:r>
            <a:r>
              <a:rPr sz="32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sz="32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analgesics</a:t>
            </a:r>
            <a:r>
              <a:rPr sz="32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use</a:t>
            </a:r>
            <a:r>
              <a:rPr sz="32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sz="32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32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pediatric</a:t>
            </a:r>
            <a:r>
              <a:rPr sz="32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spc="-25" dirty="0">
                <a:solidFill>
                  <a:srgbClr val="C00000"/>
                </a:solidFill>
                <a:latin typeface="Arial"/>
                <a:cs typeface="Arial"/>
              </a:rPr>
              <a:t>ED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3297" y="2781300"/>
            <a:ext cx="1312545" cy="2087880"/>
          </a:xfrm>
          <a:prstGeom prst="rect">
            <a:avLst/>
          </a:prstGeom>
          <a:solidFill>
            <a:srgbClr val="007F7F"/>
          </a:solidFill>
          <a:ln w="12192">
            <a:solidFill>
              <a:srgbClr val="000000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marL="53975" algn="ctr">
              <a:lnSpc>
                <a:spcPct val="100000"/>
              </a:lnSpc>
              <a:spcBef>
                <a:spcPts val="1440"/>
              </a:spcBef>
            </a:pP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EMLA</a:t>
            </a:r>
            <a:endParaRPr sz="1800">
              <a:latin typeface="Arial"/>
              <a:cs typeface="Arial"/>
            </a:endParaRPr>
          </a:p>
          <a:p>
            <a:pPr marL="52705" algn="ctr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Ametop</a:t>
            </a:r>
            <a:r>
              <a:rPr sz="1800" spc="-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00"/>
                </a:solidFill>
                <a:latin typeface="Arial"/>
                <a:cs typeface="Arial"/>
              </a:rPr>
              <a:t>Gel</a:t>
            </a:r>
            <a:endParaRPr sz="1800">
              <a:latin typeface="Arial"/>
              <a:cs typeface="Arial"/>
            </a:endParaRPr>
          </a:p>
          <a:p>
            <a:pPr marL="49530" algn="ctr">
              <a:lnSpc>
                <a:spcPct val="100000"/>
              </a:lnSpc>
              <a:spcBef>
                <a:spcPts val="108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LAT</a:t>
            </a:r>
            <a:endParaRPr sz="1800">
              <a:latin typeface="Arial"/>
              <a:cs typeface="Arial"/>
            </a:endParaRPr>
          </a:p>
          <a:p>
            <a:pPr marL="55244" algn="ctr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Elamax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3495" y="2781300"/>
            <a:ext cx="1470660" cy="1800225"/>
          </a:xfrm>
          <a:prstGeom prst="rect">
            <a:avLst/>
          </a:prstGeom>
          <a:solidFill>
            <a:srgbClr val="007F7F"/>
          </a:solidFill>
          <a:ln w="12192">
            <a:solidFill>
              <a:srgbClr val="000000"/>
            </a:solidFill>
          </a:ln>
        </p:spPr>
        <p:txBody>
          <a:bodyPr vert="horz" wrap="square" lIns="0" tIns="1841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Midazolam</a:t>
            </a:r>
            <a:endParaRPr sz="1600">
              <a:latin typeface="Arial"/>
              <a:cs typeface="Arial"/>
            </a:endParaRPr>
          </a:p>
          <a:p>
            <a:pPr marL="95250">
              <a:lnSpc>
                <a:spcPct val="100000"/>
              </a:lnSpc>
              <a:spcBef>
                <a:spcPts val="835"/>
              </a:spcBef>
            </a:pPr>
            <a:r>
              <a:rPr sz="1400" dirty="0">
                <a:solidFill>
                  <a:srgbClr val="FFFF00"/>
                </a:solidFill>
                <a:latin typeface="Arial"/>
                <a:cs typeface="Arial"/>
              </a:rPr>
              <a:t>Chloral</a:t>
            </a:r>
            <a:r>
              <a:rPr sz="1400" spc="-3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00"/>
                </a:solidFill>
                <a:latin typeface="Arial"/>
                <a:cs typeface="Arial"/>
              </a:rPr>
              <a:t>hydrate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06367" y="2781300"/>
            <a:ext cx="1449705" cy="1800225"/>
          </a:xfrm>
          <a:prstGeom prst="rect">
            <a:avLst/>
          </a:prstGeom>
          <a:solidFill>
            <a:srgbClr val="007F7F"/>
          </a:solidFill>
          <a:ln w="12192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294005" marR="285115" algn="ctr">
              <a:lnSpc>
                <a:spcPct val="150100"/>
              </a:lnSpc>
              <a:spcBef>
                <a:spcPts val="6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Midazolam Fentanyl Dexmedet.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27904" y="2781300"/>
            <a:ext cx="1452880" cy="1800225"/>
          </a:xfrm>
          <a:prstGeom prst="rect">
            <a:avLst/>
          </a:prstGeom>
          <a:solidFill>
            <a:srgbClr val="007F7F"/>
          </a:solidFill>
          <a:ln w="12192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273050" marR="161925" indent="-635" algn="ctr">
              <a:lnSpc>
                <a:spcPct val="150100"/>
              </a:lnSpc>
              <a:spcBef>
                <a:spcPts val="3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Midazolam </a:t>
            </a:r>
            <a:r>
              <a:rPr sz="1400" spc="-10" dirty="0">
                <a:solidFill>
                  <a:srgbClr val="FFFF00"/>
                </a:solidFill>
                <a:latin typeface="Arial"/>
                <a:cs typeface="Arial"/>
              </a:rPr>
              <a:t>Methohexital Pentob.</a:t>
            </a:r>
            <a:endParaRPr sz="1400">
              <a:latin typeface="Arial"/>
              <a:cs typeface="Arial"/>
            </a:endParaRPr>
          </a:p>
          <a:p>
            <a:pPr marL="360045" marR="250190" indent="1270" algn="ctr">
              <a:lnSpc>
                <a:spcPct val="150000"/>
              </a:lnSpc>
            </a:pPr>
            <a:r>
              <a:rPr sz="1400" spc="-10" dirty="0">
                <a:solidFill>
                  <a:srgbClr val="FFFF00"/>
                </a:solidFill>
                <a:latin typeface="Arial"/>
                <a:cs typeface="Arial"/>
              </a:rPr>
              <a:t>Thiopental </a:t>
            </a:r>
            <a:r>
              <a:rPr sz="1400" dirty="0">
                <a:solidFill>
                  <a:srgbClr val="FFFF00"/>
                </a:solidFill>
                <a:latin typeface="Arial"/>
                <a:cs typeface="Arial"/>
              </a:rPr>
              <a:t>Chloral</a:t>
            </a:r>
            <a:r>
              <a:rPr sz="1400" spc="-4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FFFF00"/>
                </a:solidFill>
                <a:latin typeface="Arial"/>
                <a:cs typeface="Arial"/>
              </a:rPr>
              <a:t>hy.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0964" y="2781300"/>
            <a:ext cx="1450975" cy="1800225"/>
          </a:xfrm>
          <a:prstGeom prst="rect">
            <a:avLst/>
          </a:prstGeom>
          <a:solidFill>
            <a:srgbClr val="007F7F"/>
          </a:solidFill>
          <a:ln w="12192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306070" marR="329565" indent="-55244">
              <a:lnSpc>
                <a:spcPct val="150000"/>
              </a:lnSpc>
              <a:spcBef>
                <a:spcPts val="4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Midazolam </a:t>
            </a:r>
            <a:r>
              <a:rPr sz="1400" spc="-10" dirty="0">
                <a:solidFill>
                  <a:srgbClr val="FFFF00"/>
                </a:solidFill>
                <a:latin typeface="Arial"/>
                <a:cs typeface="Arial"/>
              </a:rPr>
              <a:t>Ketamine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48544" y="2781302"/>
            <a:ext cx="1449705" cy="719455"/>
          </a:xfrm>
          <a:prstGeom prst="rect">
            <a:avLst/>
          </a:prstGeom>
          <a:solidFill>
            <a:srgbClr val="007F7F"/>
          </a:solidFill>
          <a:ln w="12192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87960">
              <a:lnSpc>
                <a:spcPct val="100000"/>
              </a:lnSpc>
            </a:pPr>
            <a:r>
              <a:rPr sz="1400" dirty="0">
                <a:solidFill>
                  <a:srgbClr val="FFFF00"/>
                </a:solidFill>
                <a:latin typeface="Arial"/>
                <a:cs typeface="Arial"/>
              </a:rPr>
              <a:t>Nitrous</a:t>
            </a:r>
            <a:r>
              <a:rPr sz="1400" spc="-4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00"/>
                </a:solidFill>
                <a:latin typeface="Arial"/>
                <a:cs typeface="Arial"/>
              </a:rPr>
              <a:t>Oxide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41664" y="2781300"/>
            <a:ext cx="1519555" cy="2476500"/>
          </a:xfrm>
          <a:prstGeom prst="rect">
            <a:avLst/>
          </a:prstGeom>
          <a:solidFill>
            <a:srgbClr val="007F7F"/>
          </a:solidFill>
          <a:ln w="12192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255270" marR="394335" algn="ctr">
              <a:lnSpc>
                <a:spcPct val="150000"/>
              </a:lnSpc>
              <a:spcBef>
                <a:spcPts val="6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Midazolam </a:t>
            </a:r>
            <a:r>
              <a:rPr sz="1400" spc="-10" dirty="0">
                <a:solidFill>
                  <a:srgbClr val="FFFF00"/>
                </a:solidFill>
                <a:latin typeface="Arial"/>
                <a:cs typeface="Arial"/>
              </a:rPr>
              <a:t>Ketamine Fentanyl Propofol Etomidate Pentob Dexmedet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1398" y="1975102"/>
            <a:ext cx="1308100" cy="39179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6355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365"/>
              </a:spcBef>
            </a:pPr>
            <a:r>
              <a:rPr sz="1800" spc="-10" dirty="0">
                <a:latin typeface="Arial"/>
                <a:cs typeface="Arial"/>
              </a:rPr>
              <a:t>Topical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50948" y="1982722"/>
            <a:ext cx="1205865" cy="39179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6355" rIns="0" bIns="0" rtlCol="0">
            <a:spAutoFit/>
          </a:bodyPr>
          <a:lstStyle/>
          <a:p>
            <a:pPr marL="386715">
              <a:lnSpc>
                <a:spcPct val="100000"/>
              </a:lnSpc>
              <a:spcBef>
                <a:spcPts val="365"/>
              </a:spcBef>
            </a:pPr>
            <a:r>
              <a:rPr sz="1800" spc="-20" dirty="0">
                <a:latin typeface="Arial"/>
                <a:cs typeface="Arial"/>
              </a:rPr>
              <a:t>Oral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70960" y="1982721"/>
            <a:ext cx="1207135" cy="3829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6355" rIns="0" bIns="0" rtlCol="0">
            <a:spAutoFit/>
          </a:bodyPr>
          <a:lstStyle/>
          <a:p>
            <a:pPr marL="318135">
              <a:lnSpc>
                <a:spcPct val="100000"/>
              </a:lnSpc>
              <a:spcBef>
                <a:spcPts val="365"/>
              </a:spcBef>
            </a:pPr>
            <a:r>
              <a:rPr sz="1800" spc="-10" dirty="0">
                <a:latin typeface="Arial"/>
                <a:cs typeface="Arial"/>
              </a:rPr>
              <a:t>IN/SL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0972" y="1982722"/>
            <a:ext cx="1209040" cy="39179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6355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365"/>
              </a:spcBef>
            </a:pPr>
            <a:r>
              <a:rPr sz="1800" spc="-10" dirty="0">
                <a:latin typeface="Arial"/>
                <a:cs typeface="Arial"/>
              </a:rPr>
              <a:t>Rectal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4032" y="1982722"/>
            <a:ext cx="1207135" cy="39179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63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65"/>
              </a:spcBef>
            </a:pPr>
            <a:r>
              <a:rPr sz="1800" spc="-25" dirty="0">
                <a:latin typeface="Arial"/>
                <a:cs typeface="Arial"/>
              </a:rPr>
              <a:t>IM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22435" y="1982722"/>
            <a:ext cx="1205865" cy="39179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63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65"/>
              </a:spcBef>
            </a:pPr>
            <a:r>
              <a:rPr sz="1800" spc="-25" dirty="0">
                <a:latin typeface="Arial"/>
                <a:cs typeface="Arial"/>
              </a:rPr>
              <a:t>IV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442447" y="1982722"/>
            <a:ext cx="1205865" cy="39179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635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65"/>
              </a:spcBef>
            </a:pPr>
            <a:r>
              <a:rPr sz="1800" spc="-25" dirty="0">
                <a:latin typeface="Arial"/>
                <a:cs typeface="Arial"/>
              </a:rPr>
              <a:t>INH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50045" y="5452621"/>
            <a:ext cx="1954530" cy="8655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Oral</a:t>
            </a: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analgesics</a:t>
            </a:r>
            <a:endParaRPr sz="1200">
              <a:latin typeface="Arial"/>
              <a:cs typeface="Arial"/>
            </a:endParaRPr>
          </a:p>
          <a:p>
            <a:pPr marL="24765" marR="5080">
              <a:lnSpc>
                <a:spcPct val="100000"/>
              </a:lnSpc>
              <a:spcBef>
                <a:spcPts val="425"/>
              </a:spcBef>
            </a:pPr>
            <a:r>
              <a:rPr sz="1200" b="1" dirty="0">
                <a:latin typeface="Arial"/>
                <a:cs typeface="Arial"/>
              </a:rPr>
              <a:t>Oral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Morphine</a:t>
            </a:r>
            <a:r>
              <a:rPr sz="1200" b="1" spc="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(Oramorph) Oxycodone</a:t>
            </a:r>
            <a:endParaRPr sz="12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</a:pPr>
            <a:r>
              <a:rPr sz="1200" b="1" spc="-10" dirty="0">
                <a:solidFill>
                  <a:srgbClr val="FF3200"/>
                </a:solidFill>
                <a:latin typeface="Arial"/>
                <a:cs typeface="Arial"/>
              </a:rPr>
              <a:t>Tramadol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063" y="5024628"/>
            <a:ext cx="1011936" cy="101650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22783" y="6069888"/>
            <a:ext cx="5378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LAT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gel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7055" y="4785359"/>
            <a:ext cx="1141476" cy="46634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184398" y="5214720"/>
            <a:ext cx="2477135" cy="989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marR="753110" indent="600075">
              <a:lnSpc>
                <a:spcPct val="1448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Atomizer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Intra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0000"/>
                </a:solidFill>
                <a:latin typeface="Arial"/>
                <a:cs typeface="Arial"/>
              </a:rPr>
              <a:t>nasal</a:t>
            </a:r>
            <a:r>
              <a:rPr sz="12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analgesics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1200" b="1" dirty="0">
                <a:latin typeface="Arial"/>
                <a:cs typeface="Arial"/>
              </a:rPr>
              <a:t>Fentanyl (via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atomizer) </a:t>
            </a:r>
            <a:r>
              <a:rPr sz="1200" b="1" dirty="0">
                <a:solidFill>
                  <a:srgbClr val="0032CC"/>
                </a:solidFill>
                <a:latin typeface="Arial"/>
                <a:cs typeface="Arial"/>
              </a:rPr>
              <a:t>Diamorphine nasal</a:t>
            </a:r>
            <a:r>
              <a:rPr sz="1200" b="1" spc="-20" dirty="0">
                <a:solidFill>
                  <a:srgbClr val="0032CC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32CC"/>
                </a:solidFill>
                <a:latin typeface="Arial"/>
                <a:cs typeface="Arial"/>
              </a:rPr>
              <a:t>spray</a:t>
            </a:r>
            <a:r>
              <a:rPr sz="1200" b="1" spc="-20" dirty="0">
                <a:solidFill>
                  <a:srgbClr val="0032CC"/>
                </a:solidFill>
                <a:latin typeface="Arial"/>
                <a:cs typeface="Arial"/>
              </a:rPr>
              <a:t> (Ayendi</a:t>
            </a:r>
            <a:r>
              <a:rPr sz="1200" b="1" spc="-2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Sedative</a:t>
            </a:r>
            <a:r>
              <a:rPr spc="160" dirty="0">
                <a:latin typeface="Times New Roman"/>
                <a:cs typeface="Times New Roman"/>
              </a:rPr>
              <a:t> </a:t>
            </a:r>
            <a:r>
              <a:rPr spc="-10" dirty="0"/>
              <a:t>medications: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0797"/>
            <a:ext cx="8131809" cy="2721258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May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work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various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mechanisms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Simple</a:t>
            </a:r>
            <a:r>
              <a:rPr sz="1800" spc="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anxiolysis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-</a:t>
            </a:r>
            <a:r>
              <a:rPr sz="1800" dirty="0">
                <a:solidFill>
                  <a:srgbClr val="3F3F3F"/>
                </a:solidFill>
                <a:latin typeface="Wingdings"/>
                <a:cs typeface="Wingdings"/>
              </a:rPr>
              <a:t>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Deep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hypnotic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sedation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Same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medication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may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cause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different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effects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sedation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level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(Continuum)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Different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routes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different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dose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=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different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sedation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level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expected.</a:t>
            </a:r>
            <a:endParaRPr sz="1800" dirty="0">
              <a:latin typeface="Trebuchet MS"/>
              <a:cs typeface="Trebuchet MS"/>
            </a:endParaRPr>
          </a:p>
          <a:p>
            <a:pPr marL="355600" marR="147955" indent="-342900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5600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Knowing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pharmacology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helps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plan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needs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achieving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successful</a:t>
            </a:r>
            <a:r>
              <a:rPr sz="1800" spc="-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sedation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successful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procedure.</a:t>
            </a:r>
            <a:endParaRPr lang="he-IL" sz="1800" spc="-10" dirty="0">
              <a:solidFill>
                <a:srgbClr val="3F3F3F"/>
              </a:solidFill>
              <a:latin typeface="Trebuchet MS"/>
              <a:cs typeface="Trebuchet MS"/>
            </a:endParaRPr>
          </a:p>
          <a:p>
            <a:pPr marL="355600" marR="147955" indent="-342900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5600" algn="l"/>
              </a:tabLst>
            </a:pPr>
            <a:r>
              <a:rPr lang="en-US" spc="-10" dirty="0">
                <a:solidFill>
                  <a:srgbClr val="3F3F3F"/>
                </a:solidFill>
                <a:latin typeface="Trebuchet MS"/>
                <a:cs typeface="Trebuchet MS"/>
              </a:rPr>
              <a:t>Titration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Drug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0797"/>
            <a:ext cx="2549525" cy="36347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Mechanism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action: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Drug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class: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Possible</a:t>
            </a:r>
            <a:r>
              <a:rPr sz="1800" spc="-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routes: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Doses: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Onset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Trebuchet MS"/>
                <a:cs typeface="Trebuchet MS"/>
              </a:rPr>
              <a:t>time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Duration: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Side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Effects: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Contraindications: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7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Antidotes: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Midazolam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(Benzodiazepines)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0797"/>
            <a:ext cx="7468234" cy="39090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Mechanism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action: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GABA</a:t>
            </a:r>
            <a:r>
              <a:rPr sz="1800" spc="-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enhancer</a:t>
            </a:r>
            <a:endParaRPr sz="1800">
              <a:latin typeface="Trebuchet MS"/>
              <a:cs typeface="Trebuchet MS"/>
            </a:endParaRPr>
          </a:p>
          <a:p>
            <a:pPr marL="355600" marR="294640" indent="-342900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5600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Drug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class:</a:t>
            </a:r>
            <a:r>
              <a:rPr sz="1800" spc="-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Anxiolysis,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Muscle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relaxant,</a:t>
            </a:r>
            <a:r>
              <a:rPr sz="1800" spc="-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Amnestic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(ANTEROGRADE),</a:t>
            </a:r>
            <a:r>
              <a:rPr sz="1800" spc="-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Anticonvulsant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Possible</a:t>
            </a:r>
            <a:r>
              <a:rPr sz="1800" spc="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routes: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PO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(0.5-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0.75mg/kg)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(0.3-0.5)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IV/IM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(0.1)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PR(?)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Doses: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Onset</a:t>
            </a:r>
            <a:r>
              <a:rPr sz="1800" spc="1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time:</a:t>
            </a:r>
            <a:r>
              <a:rPr sz="1800" spc="1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PO-</a:t>
            </a:r>
            <a:r>
              <a:rPr sz="1800" spc="11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10-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15min/IN-5min/IV-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2</a:t>
            </a:r>
            <a:r>
              <a:rPr sz="1800" spc="1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min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Duration:30-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45</a:t>
            </a:r>
            <a:r>
              <a:rPr sz="1800" spc="204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minutes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Side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Effects: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hypotension-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rare,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resp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depression,</a:t>
            </a:r>
            <a:r>
              <a:rPr sz="1800" spc="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paradoxical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reaction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Contraindications: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?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(excreted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kidney)/careful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opiates!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69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Antidotes: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Flumazenil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(Annexate)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0.01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mg/kg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(max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0.2mg/dose)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7188" y="143255"/>
            <a:ext cx="1642872" cy="2087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8462" y="344804"/>
            <a:ext cx="1957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Ketamine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dirty="0"/>
              <a:t>Mechanism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action: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NMDA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receptor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10" dirty="0"/>
              <a:t>antagonist</a:t>
            </a: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dirty="0"/>
              <a:t>Drug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dirty="0"/>
              <a:t>class: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/>
              <a:t>Dissociative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10" dirty="0"/>
              <a:t>(unique!)/Analgesic</a:t>
            </a: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  <a:tab pos="2707640" algn="l"/>
              </a:tabLst>
            </a:pPr>
            <a:r>
              <a:rPr dirty="0"/>
              <a:t>Possible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/>
              <a:t>routes: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20" dirty="0"/>
              <a:t>IV/IM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-10" dirty="0"/>
              <a:t>IN/PO(?)-</a:t>
            </a:r>
            <a:r>
              <a:rPr dirty="0"/>
              <a:t>noninferior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to</a:t>
            </a:r>
            <a:r>
              <a:rPr spc="110" dirty="0">
                <a:latin typeface="Times New Roman"/>
                <a:cs typeface="Times New Roman"/>
              </a:rPr>
              <a:t> </a:t>
            </a:r>
            <a:r>
              <a:rPr spc="-10" dirty="0"/>
              <a:t>midazolam</a:t>
            </a: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dirty="0"/>
              <a:t>Doses:IV-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/>
              <a:t>1mg/kg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dirty="0"/>
              <a:t>(pain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spc="-10" dirty="0"/>
              <a:t>0.2-</a:t>
            </a:r>
            <a:r>
              <a:rPr dirty="0"/>
              <a:t>0.5mg/kg)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dirty="0"/>
              <a:t>IM-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/>
              <a:t>2-3mg/kg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spc="-10" dirty="0"/>
              <a:t>PO-</a:t>
            </a:r>
            <a:r>
              <a:rPr dirty="0"/>
              <a:t>5-</a:t>
            </a:r>
            <a:r>
              <a:rPr spc="-10" dirty="0"/>
              <a:t>10mg/kg</a:t>
            </a: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dirty="0"/>
              <a:t>Onset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dirty="0"/>
              <a:t>time: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dirty="0"/>
              <a:t>IV-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spc="-10" dirty="0"/>
              <a:t>1-</a:t>
            </a:r>
            <a:r>
              <a:rPr dirty="0"/>
              <a:t>5min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dirty="0"/>
              <a:t>IM-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/>
              <a:t>5-10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25" dirty="0"/>
              <a:t>min</a:t>
            </a: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pc="-10" dirty="0"/>
              <a:t>Duration:20-</a:t>
            </a:r>
            <a:r>
              <a:rPr dirty="0"/>
              <a:t>30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spc="-10" dirty="0"/>
              <a:t>minutes</a:t>
            </a: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dirty="0"/>
              <a:t>Side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dirty="0"/>
              <a:t>Effects: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Salivation,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Laryngospasm,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dirty="0"/>
              <a:t>Emergence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/>
              <a:t>reaction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10" dirty="0"/>
              <a:t>(Bronchodilation),</a:t>
            </a:r>
          </a:p>
          <a:p>
            <a:pPr marL="355600">
              <a:lnSpc>
                <a:spcPct val="100000"/>
              </a:lnSpc>
            </a:pPr>
            <a:r>
              <a:rPr spc="-10" dirty="0"/>
              <a:t>Hypertension</a:t>
            </a: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dirty="0"/>
              <a:t>Contraindications: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Increased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/>
              <a:t>ICP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/>
              <a:t>(?)-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dirty="0"/>
              <a:t>NO!!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/>
              <a:t>Increased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/>
              <a:t>IOP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/>
              <a:t>(?)-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/>
              <a:t>probably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25" dirty="0"/>
              <a:t>not</a:t>
            </a:r>
          </a:p>
          <a:p>
            <a:pPr marL="354965" indent="-342265">
              <a:lnSpc>
                <a:spcPct val="100000"/>
              </a:lnSpc>
              <a:spcBef>
                <a:spcPts val="969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pc="-10" dirty="0"/>
              <a:t>Antidotes: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9883" y="463295"/>
            <a:ext cx="1866900" cy="18882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67200" y="1084247"/>
            <a:ext cx="3124200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r"/>
            <a:r>
              <a:rPr lang="he-IL" dirty="0">
                <a:solidFill>
                  <a:srgbClr val="FFC000"/>
                </a:solidFill>
              </a:rPr>
              <a:t>בחולים עם רקע פסיכיאטרי </a:t>
            </a:r>
            <a:r>
              <a:rPr lang="he-IL" u="sng" dirty="0">
                <a:solidFill>
                  <a:srgbClr val="FFC000"/>
                </a:solidFill>
              </a:rPr>
              <a:t>רצוי </a:t>
            </a:r>
            <a:r>
              <a:rPr lang="he-IL" u="sng" dirty="0" err="1">
                <a:solidFill>
                  <a:srgbClr val="FFC000"/>
                </a:solidFill>
              </a:rPr>
              <a:t>להמנע</a:t>
            </a:r>
            <a:r>
              <a:rPr lang="he-IL" u="sng" dirty="0">
                <a:solidFill>
                  <a:srgbClr val="FFC000"/>
                </a:solidFill>
              </a:rPr>
              <a:t> </a:t>
            </a:r>
            <a:r>
              <a:rPr lang="he-IL" dirty="0">
                <a:solidFill>
                  <a:srgbClr val="FFC000"/>
                </a:solidFill>
              </a:rPr>
              <a:t>עקב הגברת האפקט </a:t>
            </a:r>
            <a:endParaRPr 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7833" y="629158"/>
            <a:ext cx="1731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Propofol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0797"/>
            <a:ext cx="7388225" cy="36347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Mechanism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action: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GABA</a:t>
            </a:r>
            <a:r>
              <a:rPr sz="1800" spc="-3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receptor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agonist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Drug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class: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Hypnotic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sedative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Possible</a:t>
            </a:r>
            <a:r>
              <a:rPr sz="1800" spc="-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routes:</a:t>
            </a:r>
            <a:r>
              <a:rPr sz="1800" spc="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IV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Doses: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0.5-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1</a:t>
            </a:r>
            <a:r>
              <a:rPr sz="1800" spc="1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Trebuchet MS"/>
                <a:cs typeface="Trebuchet MS"/>
              </a:rPr>
              <a:t>mg/kg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Onset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time:</a:t>
            </a:r>
            <a:r>
              <a:rPr sz="1800" spc="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30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seconds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Duration:5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min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Side</a:t>
            </a:r>
            <a:r>
              <a:rPr sz="1800" spc="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Effects:</a:t>
            </a:r>
            <a:r>
              <a:rPr sz="1800" spc="-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Apnea,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resp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depression,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Hypotension,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pain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injection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Contraindications: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7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Antidotes: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6088" y="365759"/>
            <a:ext cx="2634996" cy="16626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40031" y="1447332"/>
            <a:ext cx="3124200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r"/>
            <a:r>
              <a:rPr lang="he-IL" dirty="0">
                <a:solidFill>
                  <a:srgbClr val="FFC000"/>
                </a:solidFill>
              </a:rPr>
              <a:t>מועדף </a:t>
            </a:r>
            <a:r>
              <a:rPr lang="he-IL" dirty="0" err="1">
                <a:solidFill>
                  <a:srgbClr val="FFC000"/>
                </a:solidFill>
              </a:rPr>
              <a:t>לסדציה</a:t>
            </a:r>
            <a:r>
              <a:rPr lang="he-IL" dirty="0">
                <a:solidFill>
                  <a:srgbClr val="FFC000"/>
                </a:solidFill>
              </a:rPr>
              <a:t> בסטטוס אפילפטי</a:t>
            </a:r>
            <a:endParaRPr 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Dexmedetomidine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spc="-10" dirty="0"/>
              <a:t>(Precedex)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0797"/>
            <a:ext cx="6820534" cy="36347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Mechanism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action:</a:t>
            </a:r>
            <a:r>
              <a:rPr sz="1800" spc="-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A2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receptor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agonist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(similar</a:t>
            </a:r>
            <a:r>
              <a:rPr sz="1800" spc="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clonidine)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Drug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class: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Sedative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analgesic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Possible</a:t>
            </a:r>
            <a:r>
              <a:rPr sz="18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routes: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IV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  <a:tab pos="279590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Doses:IV-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0.5-1mcg/kg</a:t>
            </a:r>
            <a:r>
              <a:rPr sz="1800" dirty="0">
                <a:solidFill>
                  <a:srgbClr val="3F3F3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2mcg/kg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  <a:tab pos="3312160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Onset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time: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IV-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1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minute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sz="1800" dirty="0">
                <a:solidFill>
                  <a:srgbClr val="3F3F3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5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minutes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Duration:</a:t>
            </a:r>
            <a:r>
              <a:rPr sz="1800" spc="1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IV-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5-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10</a:t>
            </a:r>
            <a:r>
              <a:rPr sz="1800" spc="10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minutes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IN-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20-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30</a:t>
            </a:r>
            <a:r>
              <a:rPr sz="1800" spc="10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minutes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Side</a:t>
            </a:r>
            <a:r>
              <a:rPr sz="1800" spc="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Effects: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bradycardia,</a:t>
            </a:r>
            <a:r>
              <a:rPr sz="1800" spc="3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hypotension/hypertension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Contraindications: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7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Antidotes: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0076" y="365759"/>
            <a:ext cx="2671572" cy="13243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Nitrous</a:t>
            </a:r>
            <a:r>
              <a:rPr spc="170" dirty="0">
                <a:latin typeface="Times New Roman"/>
                <a:cs typeface="Times New Roman"/>
              </a:rPr>
              <a:t> </a:t>
            </a:r>
            <a:r>
              <a:rPr dirty="0"/>
              <a:t>Oxide(laughing</a:t>
            </a:r>
            <a:r>
              <a:rPr spc="145" dirty="0">
                <a:latin typeface="Times New Roman"/>
                <a:cs typeface="Times New Roman"/>
              </a:rPr>
              <a:t> </a:t>
            </a:r>
            <a:r>
              <a:rPr spc="-20" dirty="0"/>
              <a:t>gas)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0797"/>
            <a:ext cx="6690359" cy="36347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Mechanism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action: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mild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NMDA</a:t>
            </a:r>
            <a:r>
              <a:rPr sz="1800" spc="-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antagonist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GABA</a:t>
            </a:r>
            <a:r>
              <a:rPr sz="1800" spc="-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agonist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Drug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class: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sedative,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anxiolysis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analgesia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(mild)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Possible</a:t>
            </a:r>
            <a:r>
              <a:rPr sz="1800" spc="-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routes:</a:t>
            </a:r>
            <a:r>
              <a:rPr sz="1800" spc="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INH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Doses: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50-</a:t>
            </a: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70%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Onset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time:</a:t>
            </a:r>
            <a:r>
              <a:rPr sz="1800" spc="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1-2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minutes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Duration: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dispersed</a:t>
            </a:r>
            <a:r>
              <a:rPr sz="1800" spc="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immediately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Side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Effects: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dizziness,</a:t>
            </a:r>
            <a:r>
              <a:rPr sz="1800" spc="4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vomiting,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hallucinations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Contraindications: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open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space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diseases</a:t>
            </a:r>
            <a:r>
              <a:rPr sz="1800" spc="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(Bowel/Ear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Trebuchet MS"/>
                <a:cs typeface="Trebuchet MS"/>
              </a:rPr>
              <a:t>etc)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7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Antidotes: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2900" y="426719"/>
            <a:ext cx="3863340" cy="7589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Analgesics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0795"/>
            <a:ext cx="8391525" cy="283146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Opiates:</a:t>
            </a:r>
            <a:endParaRPr sz="1800">
              <a:latin typeface="Trebuchet MS"/>
              <a:cs typeface="Trebuchet MS"/>
            </a:endParaRPr>
          </a:p>
          <a:p>
            <a:pPr marL="12700" marR="7430770">
              <a:lnSpc>
                <a:spcPct val="146100"/>
              </a:lnSpc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Morphine</a:t>
            </a:r>
            <a:r>
              <a:rPr sz="1800" spc="-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Fentanyl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Oxycod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71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Tramadol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7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Ketamine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Intranasal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1mg/kg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has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similar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analgesic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effect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Fentanyl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2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mcg/kg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Opiates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0797"/>
            <a:ext cx="4000500" cy="32321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Morphine-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IV/IM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0.1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mg/kg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max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dose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10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mg.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Onset-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5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minutes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Peak-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20</a:t>
            </a:r>
            <a:r>
              <a:rPr sz="1800" spc="1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minutes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Duration</a:t>
            </a:r>
            <a:r>
              <a:rPr sz="1800" spc="1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3-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4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hours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S/E-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nausea/vomiting,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constipation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6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Antidote: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Naloxone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0.1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Trebuchet MS"/>
                <a:cs typeface="Trebuchet MS"/>
              </a:rPr>
              <a:t>mg/kg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7931" y="196595"/>
            <a:ext cx="3515868" cy="29885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Opiates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0797"/>
            <a:ext cx="4652645" cy="243014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Fentanyl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IV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  <a:tab pos="1799589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IV-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1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mcg/kg</a:t>
            </a:r>
            <a:r>
              <a:rPr sz="1800" dirty="0">
                <a:solidFill>
                  <a:srgbClr val="3F3F3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sz="1800" spc="12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1.5-2mcg/kg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  <a:tab pos="268795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Onset-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IV-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30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seconds</a:t>
            </a:r>
            <a:r>
              <a:rPr sz="1800" dirty="0">
                <a:solidFill>
                  <a:srgbClr val="3F3F3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IN-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5</a:t>
            </a:r>
            <a:r>
              <a:rPr sz="1800" spc="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minutes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  <a:tab pos="3239770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Duration</a:t>
            </a:r>
            <a:r>
              <a:rPr sz="1800" spc="1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IV-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20-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30</a:t>
            </a:r>
            <a:r>
              <a:rPr sz="1800" spc="11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minutes</a:t>
            </a:r>
            <a:r>
              <a:rPr sz="1800" dirty="0">
                <a:solidFill>
                  <a:srgbClr val="3F3F3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45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minutes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7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S/E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Rigid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chest,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resp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depression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3216" y="365759"/>
            <a:ext cx="4523232" cy="2074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Opiates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0797"/>
            <a:ext cx="3540125" cy="283146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Oxycodone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PO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0.1-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0.2</a:t>
            </a:r>
            <a:r>
              <a:rPr sz="1800" spc="10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mg/kg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max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dose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10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mg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Onset: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20</a:t>
            </a:r>
            <a:r>
              <a:rPr sz="1800" spc="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minutes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Duration:</a:t>
            </a:r>
            <a:r>
              <a:rPr sz="1800" spc="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3-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4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hours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Naloxone</a:t>
            </a:r>
            <a:r>
              <a:rPr sz="1800" spc="7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(?)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7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S/E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similar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opiates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57259" y="397763"/>
            <a:ext cx="3322320" cy="30312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Tramadol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0797"/>
            <a:ext cx="5769610" cy="283146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Opiod</a:t>
            </a:r>
            <a:r>
              <a:rPr sz="1800" spc="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receptor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agonist,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Serotonin</a:t>
            </a:r>
            <a:r>
              <a:rPr sz="1800" spc="6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reuptake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inhibitor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  <a:tab pos="690880" algn="l"/>
              </a:tabLst>
            </a:pP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IV</a:t>
            </a:r>
            <a:r>
              <a:rPr sz="1800" dirty="0">
                <a:solidFill>
                  <a:srgbClr val="3F3F3F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PO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Dose:</a:t>
            </a:r>
            <a:r>
              <a:rPr sz="1800" spc="6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IV/PO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1mg/kg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Duration: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3-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4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Hours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S/E</a:t>
            </a:r>
            <a:r>
              <a:rPr sz="1800" spc="9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nausea/vomiting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8FC225"/>
              </a:buClr>
              <a:buFont typeface="Wingdings 3"/>
              <a:buChar char=""/>
            </a:pPr>
            <a:endParaRPr sz="21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689"/>
              </a:spcBef>
              <a:buClr>
                <a:srgbClr val="8F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PO</a:t>
            </a:r>
            <a:r>
              <a:rPr sz="1800" spc="5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approved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only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over</a:t>
            </a:r>
            <a:r>
              <a:rPr sz="1800" spc="10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14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yo!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IV</a:t>
            </a:r>
            <a:r>
              <a:rPr sz="1800" spc="7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approved</a:t>
            </a:r>
            <a:r>
              <a:rPr sz="1800" spc="8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over</a:t>
            </a:r>
            <a:r>
              <a:rPr sz="1800" spc="9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1</a:t>
            </a:r>
            <a:r>
              <a:rPr sz="1800" spc="8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Trebuchet MS"/>
                <a:cs typeface="Trebuchet MS"/>
              </a:rPr>
              <a:t>yo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44940" y="158495"/>
            <a:ext cx="2662428" cy="17388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Combinations: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56231"/>
            <a:ext cx="4228465" cy="3098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5"/>
              </a:spcBef>
              <a:buClr>
                <a:srgbClr val="8FC225"/>
              </a:buClr>
              <a:buSzPct val="79687"/>
              <a:buFont typeface="Wingdings 3"/>
              <a:buChar char=""/>
              <a:tabLst>
                <a:tab pos="354965" algn="l"/>
              </a:tabLst>
            </a:pP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Ketamine+Midazolam</a:t>
            </a:r>
            <a:endParaRPr sz="32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79687"/>
              <a:buFont typeface="Wingdings 3"/>
              <a:buChar char=""/>
              <a:tabLst>
                <a:tab pos="354965" algn="l"/>
              </a:tabLst>
            </a:pP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Ketamine+Propofol</a:t>
            </a:r>
            <a:endParaRPr sz="32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8FC225"/>
              </a:buClr>
              <a:buSzPct val="79687"/>
              <a:buFont typeface="Wingdings 3"/>
              <a:buChar char=""/>
              <a:tabLst>
                <a:tab pos="354965" algn="l"/>
              </a:tabLst>
            </a:pP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Midazolam+Fentanyl</a:t>
            </a:r>
            <a:endParaRPr sz="32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8FC225"/>
              </a:buClr>
              <a:buSzPct val="79687"/>
              <a:buFont typeface="Wingdings 3"/>
              <a:buChar char=""/>
              <a:tabLst>
                <a:tab pos="354965" algn="l"/>
              </a:tabLst>
            </a:pP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Nitrous+Fentanyl</a:t>
            </a:r>
            <a:endParaRPr sz="32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8FC225"/>
              </a:buClr>
              <a:buSzPct val="79687"/>
              <a:buFont typeface="Wingdings 3"/>
              <a:buChar char=""/>
              <a:tabLst>
                <a:tab pos="354965" algn="l"/>
              </a:tabLst>
            </a:pP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Propofol+Fentanyl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4754" y="294385"/>
          <a:ext cx="9190987" cy="6019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8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246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29615">
                <a:tc>
                  <a:txBody>
                    <a:bodyPr/>
                    <a:lstStyle/>
                    <a:p>
                      <a:pPr marL="61594">
                        <a:lnSpc>
                          <a:spcPts val="1855"/>
                        </a:lnSpc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Drug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5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Route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5"/>
                        </a:lnSpc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Dose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(mg/kg)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5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Onset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5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Duration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5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Side</a:t>
                      </a:r>
                      <a:r>
                        <a:rPr sz="1600" spc="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Effect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55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Sedation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Level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34"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Midazolam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PO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0.5-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0.75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15'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45'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Paradoxical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61594">
                        <a:lnSpc>
                          <a:spcPts val="1905"/>
                        </a:lnSpc>
                        <a:spcBef>
                          <a:spcPts val="14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reaction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60"/>
                        </a:lnSpc>
                      </a:pPr>
                      <a:r>
                        <a:rPr sz="1600" spc="-20" dirty="0">
                          <a:latin typeface="Trebuchet MS"/>
                          <a:cs typeface="Trebuchet MS"/>
                        </a:rPr>
                        <a:t>Mild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IN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0.3-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0.5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5'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45'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"-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5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Moderate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IV/IM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0.1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2'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30-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45'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"-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60"/>
                        </a:lnSpc>
                      </a:pPr>
                      <a:r>
                        <a:rPr sz="1600" spc="-20" dirty="0">
                          <a:latin typeface="Trebuchet MS"/>
                          <a:cs typeface="Trebuchet MS"/>
                        </a:rPr>
                        <a:t>Mod-deep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0605"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Ketamine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IV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1'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20-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30'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Salivation,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61594" marR="544195">
                        <a:lnSpc>
                          <a:spcPct val="10690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vomiting,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emergence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reaction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6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Deep/dissociation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IM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2-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3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5-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10'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30'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5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"-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5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"-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IN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15'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20-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30'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"-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Mild-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mod</a:t>
                      </a:r>
                      <a:r>
                        <a:rPr sz="16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sedation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Propofol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IV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20" dirty="0">
                          <a:latin typeface="Trebuchet MS"/>
                          <a:cs typeface="Trebuchet MS"/>
                        </a:rPr>
                        <a:t>0.5'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5-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10'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20" dirty="0">
                          <a:latin typeface="Trebuchet MS"/>
                          <a:cs typeface="Trebuchet MS"/>
                        </a:rPr>
                        <a:t>Resp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61594" marR="506730">
                        <a:lnSpc>
                          <a:spcPct val="10690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depression,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Apnea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Deep/Hypnotic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Dexmedetomidine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IV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0.5-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mcg/kg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1'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5-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10'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Bradycardia,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HTN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64"/>
                        </a:lnSpc>
                      </a:pPr>
                      <a:r>
                        <a:rPr sz="1600" spc="-20" dirty="0">
                          <a:latin typeface="Trebuchet MS"/>
                          <a:cs typeface="Trebuchet MS"/>
                        </a:rPr>
                        <a:t>Deep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IN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2mcg/kg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5'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20-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30'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"-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64"/>
                        </a:lnSpc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Mod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sedation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8634"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Nitrous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INH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50-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70%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2'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Immediat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61594">
                        <a:lnSpc>
                          <a:spcPts val="1895"/>
                        </a:lnSpc>
                        <a:spcBef>
                          <a:spcPts val="145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Dizziness,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61594">
                        <a:lnSpc>
                          <a:spcPts val="1895"/>
                        </a:lnSpc>
                        <a:spcBef>
                          <a:spcPts val="145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vomiting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64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Mild-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Mod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39611" y="992250"/>
          <a:ext cx="8460103" cy="5219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9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0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2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03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L="68580">
                        <a:lnSpc>
                          <a:spcPts val="2090"/>
                        </a:lnSpc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Drug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Route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0"/>
                        </a:lnSpc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Dose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Onset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215">
                        <a:lnSpc>
                          <a:spcPts val="209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Duration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9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S/E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68580">
                        <a:lnSpc>
                          <a:spcPts val="209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Morphine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IV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0.1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mg/kg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5'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209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3-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ts val="209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hours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9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Nausea/con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stipation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68580">
                        <a:lnSpc>
                          <a:spcPts val="2095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Fentanyl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5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IV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5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1mcg/kg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5"/>
                        </a:lnSpc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0.5'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215">
                        <a:lnSpc>
                          <a:spcPts val="2095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20-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30'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95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"-,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resp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depression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5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IN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5"/>
                        </a:lnSpc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1.5-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2mcg/kg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5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5'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215">
                        <a:lnSpc>
                          <a:spcPts val="2095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30-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45'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0045">
                <a:tc>
                  <a:txBody>
                    <a:bodyPr/>
                    <a:lstStyle/>
                    <a:p>
                      <a:pPr marL="68580">
                        <a:lnSpc>
                          <a:spcPts val="2095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Oxycod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5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PO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5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0.15-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0.2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68580" marR="100965">
                        <a:lnSpc>
                          <a:spcPct val="1072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mg/kg</a:t>
                      </a:r>
                      <a:r>
                        <a:rPr sz="1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(max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10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mg)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95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20'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095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3-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ts val="2095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hours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95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Nausea/dizz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iness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L="68580">
                        <a:lnSpc>
                          <a:spcPts val="210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Tramadol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IV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mg/kg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5'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21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3-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ts val="21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Hours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1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Nausea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C22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PO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1mg/kg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20'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21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3-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ts val="21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hours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1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"-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Words>939</Words>
  <Application>Microsoft Office PowerPoint</Application>
  <PresentationFormat>Widescreen</PresentationFormat>
  <Paragraphs>277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Times New Roman</vt:lpstr>
      <vt:lpstr>Trebuchet MS</vt:lpstr>
      <vt:lpstr>Wingdings</vt:lpstr>
      <vt:lpstr>Wingdings 3</vt:lpstr>
      <vt:lpstr>Office Theme</vt:lpstr>
      <vt:lpstr>Sedation and Analgesia- Pharmacology</vt:lpstr>
      <vt:lpstr>Topics:</vt:lpstr>
      <vt:lpstr>Sedatives and analgesics use in the pediatric ED</vt:lpstr>
      <vt:lpstr>Sedative medications:</vt:lpstr>
      <vt:lpstr>Drug</vt:lpstr>
      <vt:lpstr>Midazolam (Benzodiazepines)</vt:lpstr>
      <vt:lpstr>Ketamine</vt:lpstr>
      <vt:lpstr>Propofol</vt:lpstr>
      <vt:lpstr>Dexmedetomidine (Precedex)</vt:lpstr>
      <vt:lpstr>Nitrous Oxide(laughing gas)</vt:lpstr>
      <vt:lpstr>Analgesics</vt:lpstr>
      <vt:lpstr>Opiates</vt:lpstr>
      <vt:lpstr>Opiates</vt:lpstr>
      <vt:lpstr>Opiates</vt:lpstr>
      <vt:lpstr>Tramadol</vt:lpstr>
      <vt:lpstr>Combinations: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Sedation and Analgesia- Pharmacology</dc:title>
  <dc:creator>Giora Weiser</dc:creator>
  <cp:lastModifiedBy>Nitai Levy</cp:lastModifiedBy>
  <cp:revision>4</cp:revision>
  <dcterms:created xsi:type="dcterms:W3CDTF">2023-09-12T08:04:33Z</dcterms:created>
  <dcterms:modified xsi:type="dcterms:W3CDTF">2026-07-06T18:44:42Z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2023-09-12T00:00:00Z</vt:filetime>
  </property>
  <property fmtid="{D5CDD505-2E9C-101B-9397-08002B2CF9AE}" pid="5" name="Producer">
    <vt:lpwstr>GPL Ghostscript 9.20</vt:lpwstr>
  </property>
</Properties>
</file>